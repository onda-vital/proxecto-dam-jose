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144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XClone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17830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</a:rPr>
              <a:t>Presentación da app e da API REST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9808" y="2331720"/>
            <a:ext cx="2651760" cy="320040"/>
          </a:xfrm>
          <a:prstGeom prst="roundRect">
            <a:avLst>
              <a:gd name="adj" fmla="val 22857"/>
            </a:avLst>
          </a:prstGeom>
          <a:solidFill>
            <a:srgbClr val="38BDF8">
              <a:alpha val="93000"/>
            </a:srgbClr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404872"/>
            <a:ext cx="2505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111F"/>
                </a:solidFill>
              </a:rPr>
              <a:t>Java · Jakarta REST · MariaDB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11880" y="2331720"/>
            <a:ext cx="2331720" cy="320040"/>
          </a:xfrm>
          <a:prstGeom prst="roundRect">
            <a:avLst>
              <a:gd name="adj" fmla="val 22857"/>
            </a:avLst>
          </a:prstGeom>
          <a:solidFill>
            <a:srgbClr val="22C55E">
              <a:alpha val="93000"/>
            </a:srgbClr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85032" y="2404872"/>
            <a:ext cx="2185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111F"/>
                </a:solidFill>
              </a:rPr>
              <a:t>Rede social tipo X/Twitter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537960" y="1143000"/>
            <a:ext cx="1874520" cy="1143000"/>
          </a:xfrm>
          <a:prstGeom prst="roundRect">
            <a:avLst>
              <a:gd name="adj" fmla="val 6400"/>
            </a:avLst>
          </a:prstGeom>
          <a:solidFill>
            <a:srgbClr val="0F172A"/>
          </a:solidFill>
          <a:ln w="1651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47688" y="1271016"/>
            <a:ext cx="1655064" cy="886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Cliente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Android / Web / Escritorio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915400" y="2423160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651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25128" y="2551176"/>
            <a:ext cx="1563624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API REST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Jersey + Tomcat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720840" y="397764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651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30568" y="4105656"/>
            <a:ext cx="1609344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Base de datos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MariaDB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412480" y="1737360"/>
            <a:ext cx="502920" cy="667512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897112" y="3529584"/>
            <a:ext cx="-740664" cy="448056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77240" y="4663440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Idea central: unha API propia que recibe JSON, consulta a base de datos e devolve respostas estruturadas aos clientes.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835640" y="646480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XClone API · 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Que problema resolve?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3840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Visión xeral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170432"/>
            <a:ext cx="5623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A app permite crear usuarios, iniciar sesión e publicar mensaxes curtas. A API é a ponte entre a interface e os datos.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903720" y="1207008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651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13448" y="1335024"/>
            <a:ext cx="1380744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Usuario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098280" y="1207008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651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08008" y="1335024"/>
            <a:ext cx="1197864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Login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55280" y="2743200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651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65008" y="2871216"/>
            <a:ext cx="1380744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Tweets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485632" y="1536192"/>
            <a:ext cx="612648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555480" y="1874520"/>
            <a:ext cx="-713232" cy="86868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19872" y="2743200"/>
            <a:ext cx="-484632" cy="-86868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49808" y="2743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</a:rPr>
              <a:t>Funcionalidades clave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77240" y="324612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</a:rPr>
              <a:t>• Rexistro de usuarios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</a:rPr>
              <a:t>• Login por usuario e contrasinal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</a:rPr>
              <a:t>• Crear tweets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</a:rPr>
              <a:t>• Listar os últimos tweets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</a:rPr>
              <a:t>• Borrar tweets propios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</a:rPr>
              <a:t>• Borrar usuarios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5852160" y="4160520"/>
            <a:ext cx="5029200" cy="1463040"/>
          </a:xfrm>
          <a:prstGeom prst="roundRect">
            <a:avLst>
              <a:gd name="adj" fmla="val 3125"/>
            </a:avLst>
          </a:prstGeom>
          <a:solidFill>
            <a:srgbClr val="02061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16752" y="4297680"/>
            <a:ext cx="4700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POST /user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POST /user/login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GET  /tweet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POST /tweet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DELETE /tweet/{id}?username=...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835640" y="646480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XClone API ·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Arquitectura da solución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3840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Cliente → API → BD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108960" y="2788920"/>
            <a:ext cx="132588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583680" y="2788920"/>
            <a:ext cx="132588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909560" y="3310128"/>
            <a:ext cx="-13258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434840" y="3310128"/>
            <a:ext cx="-13258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22960" y="224028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651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368296"/>
            <a:ext cx="2066544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Clientes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Android · Web · Escritorio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34840" y="214884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0F172A"/>
          </a:solidFill>
          <a:ln w="1651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2276856"/>
            <a:ext cx="1929384" cy="9784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API REST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Jakarta WS-RS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909560" y="2240280"/>
            <a:ext cx="2240280" cy="109728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651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2368296"/>
            <a:ext cx="2020824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MariaDB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xclone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29000" y="23317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JSON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86600" y="23317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SQL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4572000"/>
            <a:ext cx="9875520" cy="1097280"/>
          </a:xfrm>
          <a:prstGeom prst="roundRect">
            <a:avLst>
              <a:gd name="adj" fmla="val 4167"/>
            </a:avLst>
          </a:prstGeom>
          <a:solidFill>
            <a:srgbClr val="02061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16152" y="4709160"/>
            <a:ext cx="9546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URL = jdbc:mariadb://localhost:3306/xclone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Recursos: /user e /tweet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Formato: application/json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11430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Separación limpa: a interface non fala directamente coa base de datos; todo pasa pola API.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835640" y="646480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XClone API ·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Modelo de datos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3840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Entidades principais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97280" y="1325880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0F172A"/>
          </a:solidFill>
          <a:ln w="1651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07008" y="1453896"/>
            <a:ext cx="179222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User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97280" y="2194560"/>
            <a:ext cx="2011680" cy="1691640"/>
          </a:xfrm>
          <a:prstGeom prst="roundRect">
            <a:avLst>
              <a:gd name="adj" fmla="val 2703"/>
            </a:avLst>
          </a:prstGeom>
          <a:solidFill>
            <a:srgbClr val="02061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2331720"/>
            <a:ext cx="168249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username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email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password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display_name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669280" y="1325880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0F172A"/>
          </a:solidFill>
          <a:ln w="1651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79008" y="1453896"/>
            <a:ext cx="179222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Tweet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0" y="2194560"/>
            <a:ext cx="2011680" cy="1508760"/>
          </a:xfrm>
          <a:prstGeom prst="roundRect">
            <a:avLst>
              <a:gd name="adj" fmla="val 3030"/>
            </a:avLst>
          </a:prstGeom>
          <a:solidFill>
            <a:srgbClr val="02061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33872" y="2331720"/>
            <a:ext cx="16824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username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handle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content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291840" y="2697480"/>
            <a:ext cx="214884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657600" y="233172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autoría por username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51560" y="470916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Os obxectos Java funcionan como DTOs: reciben datos JSON e tamén son a resposta que devolve a API.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961120" y="150876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F59E0B">
              <a:alpha val="93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34272" y="1581912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111F"/>
                </a:solidFill>
              </a:rPr>
              <a:t>@XmlRootElement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732520" y="2057400"/>
            <a:ext cx="2057400" cy="320040"/>
          </a:xfrm>
          <a:prstGeom prst="roundRect">
            <a:avLst>
              <a:gd name="adj" fmla="val 22857"/>
            </a:avLst>
          </a:prstGeom>
          <a:solidFill>
            <a:srgbClr val="22C55E">
              <a:alpha val="93000"/>
            </a:srgbClr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05672" y="2130552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111F"/>
                </a:solidFill>
              </a:rPr>
              <a:t>Getters / Setters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778240" y="2606040"/>
            <a:ext cx="1965960" cy="320040"/>
          </a:xfrm>
          <a:prstGeom prst="roundRect">
            <a:avLst>
              <a:gd name="adj" fmla="val 22857"/>
            </a:avLst>
          </a:prstGeom>
          <a:solidFill>
            <a:srgbClr val="38BDF8">
              <a:alpha val="93000"/>
            </a:srgbClr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51392" y="2679192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111F"/>
                </a:solidFill>
              </a:rPr>
              <a:t>JSON serializable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835640" y="646480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XClone API ·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Endpoints de usuarios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3840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UserResource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1243584"/>
            <a:ext cx="777240" cy="320040"/>
          </a:xfrm>
          <a:prstGeom prst="roundRect">
            <a:avLst>
              <a:gd name="adj" fmla="val 22857"/>
            </a:avLst>
          </a:prstGeom>
          <a:solidFill>
            <a:srgbClr val="22C55E">
              <a:alpha val="93000"/>
            </a:srgbClr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316736"/>
            <a:ext cx="630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111F"/>
                </a:solidFill>
              </a:rPr>
              <a:t>GET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828800" y="1234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/user/{email}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51960" y="120700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Busca un usuario por email. Non devolve o password.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1709928"/>
            <a:ext cx="9966960" cy="0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203704"/>
            <a:ext cx="777240" cy="320040"/>
          </a:xfrm>
          <a:prstGeom prst="roundRect">
            <a:avLst>
              <a:gd name="adj" fmla="val 22857"/>
            </a:avLst>
          </a:prstGeom>
          <a:solidFill>
            <a:srgbClr val="38BDF8">
              <a:alpha val="93000"/>
            </a:srgbClr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276856"/>
            <a:ext cx="630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111F"/>
                </a:solidFill>
              </a:rPr>
              <a:t>POST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28800" y="21945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/user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51960" y="216712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Crea un usuario novo e devolve o usuario creado sen contrasinal.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2670048"/>
            <a:ext cx="9966960" cy="0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163824"/>
            <a:ext cx="777240" cy="320040"/>
          </a:xfrm>
          <a:prstGeom prst="roundRect">
            <a:avLst>
              <a:gd name="adj" fmla="val 22857"/>
            </a:avLst>
          </a:prstGeom>
          <a:solidFill>
            <a:srgbClr val="38BDF8">
              <a:alpha val="93000"/>
            </a:srgbClr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236976"/>
            <a:ext cx="630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111F"/>
                </a:solidFill>
              </a:rPr>
              <a:t>POST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828800" y="3154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/user/login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51960" y="312724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Valida username + password e devolve o usuario se coincide.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2960" y="3630168"/>
            <a:ext cx="9966960" cy="0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123944"/>
            <a:ext cx="777240" cy="320040"/>
          </a:xfrm>
          <a:prstGeom prst="roundRect">
            <a:avLst>
              <a:gd name="adj" fmla="val 22857"/>
            </a:avLst>
          </a:prstGeom>
          <a:solidFill>
            <a:srgbClr val="EF4444">
              <a:alpha val="93000"/>
            </a:srgbClr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197096"/>
            <a:ext cx="630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111F"/>
                </a:solidFill>
              </a:rPr>
              <a:t>DELETE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828800" y="4114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/user/{id}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51960" y="408736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Elimina un usuario polo seu ID.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22960" y="4590288"/>
            <a:ext cx="9966960" cy="0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4919472"/>
            <a:ext cx="2651760" cy="1234440"/>
          </a:xfrm>
          <a:prstGeom prst="roundRect">
            <a:avLst>
              <a:gd name="adj" fmla="val 3704"/>
            </a:avLst>
          </a:prstGeom>
          <a:solidFill>
            <a:srgbClr val="02061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48472" y="5056632"/>
            <a:ext cx="2322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"username": "jose",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"email": "jose@email.com",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"password": "1234",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"display_name": "Jose"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22960" y="5623560"/>
            <a:ext cx="6812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F8FAFC"/>
                </a:solidFill>
              </a:rPr>
              <a:t>Control básico de erros: 400 se faltan datos, 401 en login incorrecto, 404 se non existe, 500 para erros SQL.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0835640" y="646480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XClone API ·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Endpoints de tweets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3840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TweetResource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2960" y="1362456"/>
            <a:ext cx="841248" cy="320040"/>
          </a:xfrm>
          <a:prstGeom prst="roundRect">
            <a:avLst>
              <a:gd name="adj" fmla="val 22857"/>
            </a:avLst>
          </a:prstGeom>
          <a:solidFill>
            <a:srgbClr val="22C55E">
              <a:alpha val="93000"/>
            </a:srgbClr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435608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111F"/>
                </a:solidFill>
              </a:rPr>
              <a:t>GET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874520" y="136245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/tweet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74920" y="13258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Lista os últimos 50 tweets ordenados por ID descendente.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1892808"/>
            <a:ext cx="9829800" cy="0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41448"/>
            <a:ext cx="841248" cy="320040"/>
          </a:xfrm>
          <a:prstGeom prst="roundRect">
            <a:avLst>
              <a:gd name="adj" fmla="val 22857"/>
            </a:avLst>
          </a:prstGeom>
          <a:solidFill>
            <a:srgbClr val="38BDF8">
              <a:alpha val="93000"/>
            </a:srgbClr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514600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111F"/>
                </a:solidFill>
              </a:rPr>
              <a:t>POST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74520" y="24414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/tweet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74920" y="240487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Crea un tweet se content non está baleiro.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2971800"/>
            <a:ext cx="9829800" cy="0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520440"/>
            <a:ext cx="841248" cy="320040"/>
          </a:xfrm>
          <a:prstGeom prst="roundRect">
            <a:avLst>
              <a:gd name="adj" fmla="val 22857"/>
            </a:avLst>
          </a:prstGeom>
          <a:solidFill>
            <a:srgbClr val="EF4444">
              <a:alpha val="93000"/>
            </a:srgbClr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593592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111F"/>
                </a:solidFill>
              </a:rPr>
              <a:t>DELETE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874520" y="352044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/tweet/{id}?username=...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074920" y="348386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Borra só se o tweet pertence a ese username.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2960" y="4050792"/>
            <a:ext cx="9829800" cy="0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4983480"/>
            <a:ext cx="3931920" cy="1143000"/>
          </a:xfrm>
          <a:prstGeom prst="roundRect">
            <a:avLst>
              <a:gd name="adj" fmla="val 4000"/>
            </a:avLst>
          </a:prstGeom>
          <a:solidFill>
            <a:srgbClr val="02061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24712" y="5120640"/>
            <a:ext cx="3602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"username": "jose",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"handle": "@bardoc122",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"content": "Primeiro tweet"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035040" y="4983480"/>
            <a:ext cx="4526280" cy="1143000"/>
          </a:xfrm>
          <a:prstGeom prst="roundRect">
            <a:avLst>
              <a:gd name="adj" fmla="val 4000"/>
            </a:avLst>
          </a:prstGeom>
          <a:solidFill>
            <a:srgbClr val="02061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9632" y="5120640"/>
            <a:ext cx="4197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[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{ "id": 12, "username": "jose", "content": "..."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]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60120" y="427939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Detalle importante: o borrado de tweets comproba id + username, así non se elimina un tweet alleo por accidente.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0835640" y="646480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XClone API ·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Fluxo dunha demo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3840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Como explicalo en directo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77240" y="2121408"/>
            <a:ext cx="749808" cy="74980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31343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111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Crear usuario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65760" y="358444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94A3B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POST /user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2542032" y="2743200"/>
            <a:ext cx="338328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26080" y="2121408"/>
            <a:ext cx="749808" cy="74980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231343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111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97480" y="30632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Iniciar sesión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514600" y="358444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94A3B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POST /user/login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4690872" y="2743200"/>
            <a:ext cx="338328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74920" y="2121408"/>
            <a:ext cx="749808" cy="74980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231343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111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46320" y="30632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Publicar tweet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63440" y="358444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94A3B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POST /tweet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6839712" y="2743200"/>
            <a:ext cx="338328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223760" y="2121408"/>
            <a:ext cx="749808" cy="74980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52360" y="231343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111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95160" y="30632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Listar timeline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812280" y="358444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94A3B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GET /tweet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988552" y="2743200"/>
            <a:ext cx="338328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372600" y="2121408"/>
            <a:ext cx="749808" cy="74980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0" y="231343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111F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0" y="30632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Eliminar tweet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961120" y="358444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94A3B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DELETE /tweet/{id}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822960" y="4709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Explicación oral: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22960" y="516636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“A app non garda os datos na interface. A interface manda peticións á API, a API fala con MariaDB, e devolve JSON para pintar a información.”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835640" y="646480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XClone API ·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Funcionamento da app web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3840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PHP MVC → API REST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49808" y="1078992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A versión PHP funciona como cliente da API: non toca MariaDB directamente. Recolle datos dos formularios, chama á API con cURL e pinta a resposta nas vistas.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468880" y="2788920"/>
            <a:ext cx="118872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577840" y="2788920"/>
            <a:ext cx="118872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686800" y="2788920"/>
            <a:ext cx="11887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85800" y="219456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0F172A"/>
          </a:solidFill>
          <a:ln w="1651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322576"/>
            <a:ext cx="1563624" cy="886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Vistas PHP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login · rexistro · home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0" y="2084832"/>
            <a:ext cx="1920240" cy="1353312"/>
          </a:xfrm>
          <a:prstGeom prst="roundRect">
            <a:avLst>
              <a:gd name="adj" fmla="val 5405"/>
            </a:avLst>
          </a:prstGeom>
          <a:solidFill>
            <a:srgbClr val="0F172A"/>
          </a:solidFill>
          <a:ln w="1651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67328" y="2212848"/>
            <a:ext cx="1700784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Controladores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AuthController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HomeController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66560" y="219456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0F172A"/>
          </a:solidFill>
          <a:ln w="1651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76288" y="2322576"/>
            <a:ext cx="1700784" cy="886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ApiClient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cURL + JSON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875520" y="2194560"/>
            <a:ext cx="1508760" cy="1143000"/>
          </a:xfrm>
          <a:prstGeom prst="roundRect">
            <a:avLst>
              <a:gd name="adj" fmla="val 6400"/>
            </a:avLst>
          </a:prstGeom>
          <a:solidFill>
            <a:srgbClr val="0F172A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85248" y="2322576"/>
            <a:ext cx="1289304" cy="886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API Java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/user · /tweet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2519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8BDF8"/>
                </a:solidFill>
              </a:rPr>
              <a:t>Pezas principais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68680" y="4709160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CBD5E1"/>
                </a:solidFill>
              </a:rPr>
              <a:t>• public/index.php decide a ruta: login, rexistro, home, publicar, logout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CBD5E1"/>
                </a:solidFill>
              </a:rPr>
              <a:t>• AuthController xestiona sesión e autenticación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CBD5E1"/>
                </a:solidFill>
              </a:rPr>
              <a:t>• HomeController carga timeline e publica tweets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CBD5E1"/>
                </a:solidFill>
              </a:rPr>
              <a:t>• ApiClient centraliza GET, POST e DELETE contra http://localhost:8080/xapi/rest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0835640" y="646480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XClone API ·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Fluxo real de uso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3840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 que pasa cando o usuario usa a app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127101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Rexistro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2148840" y="12710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Formulario PHP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343400" y="1271016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POST /user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766560" y="12344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CBD5E1"/>
                </a:solidFill>
              </a:rPr>
              <a:t>A API crea o usuario e devolve JSON sen password.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822960" y="1737360"/>
            <a:ext cx="10012680" cy="0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09397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Login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148840" y="20939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Username + password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343400" y="2093976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POST /user/login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766560" y="20574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CBD5E1"/>
                </a:solidFill>
              </a:rPr>
              <a:t>Se coincide, PHP garda o usuario en $_SESSION.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822960" y="2560320"/>
            <a:ext cx="10012680" cy="0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91693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Timeline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2148840" y="29169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Pantalla home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343400" y="2916936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GET /tweet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766560" y="288036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CBD5E1"/>
                </a:solidFill>
              </a:rPr>
              <a:t>Recibe os últimos posts e constrúe a lista na vista.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822960" y="3383280"/>
            <a:ext cx="10012680" cy="0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73989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Publicar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2148840" y="373989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Textarea do post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343400" y="3739896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POST /tweet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766560" y="370332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CBD5E1"/>
                </a:solidFill>
              </a:rPr>
              <a:t>Envía username, handle e content á API.</a:t>
            </a:r>
            <a:endParaRPr lang="en-US" sz="1420" dirty="0"/>
          </a:p>
        </p:txBody>
      </p:sp>
      <p:sp>
        <p:nvSpPr>
          <p:cNvPr id="24" name="Shape 22"/>
          <p:cNvSpPr/>
          <p:nvPr/>
        </p:nvSpPr>
        <p:spPr>
          <a:xfrm>
            <a:off x="822960" y="4206240"/>
            <a:ext cx="10012680" cy="0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56285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8FAFC"/>
                </a:solidFill>
              </a:rPr>
              <a:t>Borrar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2148840" y="456285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Ligazón 🗑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343400" y="4562856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DELETE /tweet/{id}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766560" y="45262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CBD5E1"/>
                </a:solidFill>
              </a:rPr>
              <a:t>A intención é borrar posts propios; aquí convén revisar o username na query.</a:t>
            </a:r>
            <a:endParaRPr lang="en-US" sz="1420" dirty="0"/>
          </a:p>
        </p:txBody>
      </p:sp>
      <p:sp>
        <p:nvSpPr>
          <p:cNvPr id="29" name="Shape 27"/>
          <p:cNvSpPr/>
          <p:nvPr/>
        </p:nvSpPr>
        <p:spPr>
          <a:xfrm>
            <a:off x="822960" y="5029200"/>
            <a:ext cx="10012680" cy="0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0" y="5532120"/>
            <a:ext cx="4663440" cy="777240"/>
          </a:xfrm>
          <a:prstGeom prst="roundRect">
            <a:avLst>
              <a:gd name="adj" fmla="val 5882"/>
            </a:avLst>
          </a:prstGeom>
          <a:solidFill>
            <a:srgbClr val="02061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78992" y="5669280"/>
            <a:ext cx="4334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config.php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api_base = http://localhost:8080/xapi/rest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ApiClient.php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Accept: application/json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Content-Type: application/json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6172200" y="544982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Idea para a defensa: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172200" y="57607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F8FAFC"/>
                </a:solidFill>
              </a:rPr>
              <a:t>“A web é só unha capa visual. A lóxica importante está separada na API, polo que podería reutilizarse desde Android ou escritorio.”</a:t>
            </a:r>
            <a:endParaRPr lang="en-US" sz="1520" dirty="0"/>
          </a:p>
        </p:txBody>
      </p:sp>
      <p:sp>
        <p:nvSpPr>
          <p:cNvPr id="34" name="Text 32"/>
          <p:cNvSpPr/>
          <p:nvPr/>
        </p:nvSpPr>
        <p:spPr>
          <a:xfrm>
            <a:off x="10835640" y="646480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XClone API · 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Funcionamento da app Android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3840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Proyecto_Modular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49808" y="105156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A versión Android tamén actúa como cliente da API. Usa HttpURLConnection en fíos separados, envía JSON e actualiza a interface cando recibe a resposta.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423160" y="2852928"/>
            <a:ext cx="118872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623560" y="2852928"/>
            <a:ext cx="118872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823960" y="2852928"/>
            <a:ext cx="10972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94360" y="2176272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0F172A"/>
          </a:solidFill>
          <a:ln w="1651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2304288"/>
            <a:ext cx="1609344" cy="10698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Pantallas Android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8FAFC"/>
                </a:solidFill>
              </a:rPr>
              <a:t>Login · Rexistro · Timeline · Perfil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611880" y="2176272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0F172A"/>
          </a:solidFill>
          <a:ln w="1651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21608" y="2304288"/>
            <a:ext cx="1792224" cy="10698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Apires.java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HttpURLConnection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JSON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12280" y="2240280"/>
            <a:ext cx="2011680" cy="1170432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651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22008" y="2368296"/>
            <a:ext cx="1792224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API REST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/user · /tweet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921240" y="2267712"/>
            <a:ext cx="1463040" cy="1115568"/>
          </a:xfrm>
          <a:prstGeom prst="roundRect">
            <a:avLst>
              <a:gd name="adj" fmla="val 6557"/>
            </a:avLst>
          </a:prstGeom>
          <a:solidFill>
            <a:srgbClr val="0F172A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30968" y="2395728"/>
            <a:ext cx="1243584" cy="8595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MariaDB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xclone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41605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8BDF8"/>
                </a:solidFill>
              </a:rPr>
              <a:t>Funcións implementadas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68680" y="4617720"/>
            <a:ext cx="4983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CBD5E1"/>
                </a:solidFill>
              </a:rPr>
              <a:t>• Rexistro contra POST /user</a:t>
            </a:r>
            <a:endParaRPr lang="en-US" sz="1680" dirty="0"/>
          </a:p>
          <a:p>
            <a:pPr indent="0" marL="0">
              <a:buNone/>
            </a:pPr>
            <a:r>
              <a:rPr lang="en-US" sz="1680" dirty="0">
                <a:solidFill>
                  <a:srgbClr val="CBD5E1"/>
                </a:solidFill>
              </a:rPr>
              <a:t>• Login contra POST /user/login</a:t>
            </a:r>
            <a:endParaRPr lang="en-US" sz="1680" dirty="0"/>
          </a:p>
          <a:p>
            <a:pPr indent="0" marL="0">
              <a:buNone/>
            </a:pPr>
            <a:r>
              <a:rPr lang="en-US" sz="1680" dirty="0">
                <a:solidFill>
                  <a:srgbClr val="CBD5E1"/>
                </a:solidFill>
              </a:rPr>
              <a:t>• Timeline contra GET /tweet</a:t>
            </a:r>
            <a:endParaRPr lang="en-US" sz="1680" dirty="0"/>
          </a:p>
          <a:p>
            <a:pPr indent="0" marL="0">
              <a:buNone/>
            </a:pPr>
            <a:r>
              <a:rPr lang="en-US" sz="1680" dirty="0">
                <a:solidFill>
                  <a:srgbClr val="CBD5E1"/>
                </a:solidFill>
              </a:rPr>
              <a:t>• Publicación contra POST /tweet</a:t>
            </a:r>
            <a:endParaRPr lang="en-US" sz="1680" dirty="0"/>
          </a:p>
          <a:p>
            <a:pPr indent="0" marL="0">
              <a:buNone/>
            </a:pPr>
            <a:r>
              <a:rPr lang="en-US" sz="1680" dirty="0">
                <a:solidFill>
                  <a:srgbClr val="CBD5E1"/>
                </a:solidFill>
              </a:rPr>
              <a:t>• Perfil con peche de sesión e borrado de conta</a:t>
            </a:r>
            <a:endParaRPr lang="en-US" sz="1680" dirty="0"/>
          </a:p>
          <a:p>
            <a:pPr indent="0" marL="0">
              <a:buNone/>
            </a:pPr>
            <a:r>
              <a:rPr lang="en-US" sz="1680" dirty="0">
                <a:solidFill>
                  <a:srgbClr val="CBD5E1"/>
                </a:solidFill>
              </a:rPr>
              <a:t>• Interface con RecyclerView, popups e validacións básicas</a:t>
            </a:r>
            <a:endParaRPr lang="en-US" sz="1680" dirty="0"/>
          </a:p>
        </p:txBody>
      </p:sp>
      <p:sp>
        <p:nvSpPr>
          <p:cNvPr id="19" name="Shape 17"/>
          <p:cNvSpPr/>
          <p:nvPr/>
        </p:nvSpPr>
        <p:spPr>
          <a:xfrm>
            <a:off x="6400800" y="4617720"/>
            <a:ext cx="4434840" cy="1325880"/>
          </a:xfrm>
          <a:prstGeom prst="roundRect">
            <a:avLst>
              <a:gd name="adj" fmla="val 3448"/>
            </a:avLst>
          </a:prstGeom>
          <a:solidFill>
            <a:srgbClr val="02061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4754880"/>
            <a:ext cx="41056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Base Android emulator: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http://10.0.2.2:8080/xapi/rest/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Headers: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Content-Type: application/json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Accept: application/json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835640" y="646480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XClone API · 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Funcionamento da app de escritorio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3840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XCloneDesktop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49808" y="105156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A versión de escritorio está feita en C# con Windows Forms. Usa unha clase ApiService para centralizar todas as chamadas HTTP e manter os formularios máis limpos.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78608" y="2834640"/>
            <a:ext cx="1261872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806440" y="2834640"/>
            <a:ext cx="118872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915400" y="2834640"/>
            <a:ext cx="10058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85800" y="2148840"/>
            <a:ext cx="1874520" cy="1325880"/>
          </a:xfrm>
          <a:prstGeom prst="roundRect">
            <a:avLst>
              <a:gd name="adj" fmla="val 5517"/>
            </a:avLst>
          </a:prstGeom>
          <a:solidFill>
            <a:srgbClr val="0F172A"/>
          </a:solidFill>
          <a:ln w="1651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276856"/>
            <a:ext cx="1655064" cy="10698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WinForms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Login · Registro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Principal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0" y="214884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0F172A"/>
          </a:solidFill>
          <a:ln w="1651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50208" y="2276856"/>
            <a:ext cx="1746504" cy="10698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ApiService.cs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HttpClient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async / await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95160" y="2267712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651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04888" y="2395728"/>
            <a:ext cx="1700784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API Java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JSON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921240" y="2267712"/>
            <a:ext cx="1508760" cy="109728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30968" y="2395728"/>
            <a:ext cx="1289304" cy="8412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Base de datos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MariaDB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1605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8BDF8"/>
                </a:solidFill>
              </a:rPr>
              <a:t>Funcións visibles no escritorio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68680" y="461772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dirty="0">
                <a:solidFill>
                  <a:srgbClr val="CBD5E1"/>
                </a:solidFill>
              </a:rPr>
              <a:t>• Login e rexistro de usuarios</a:t>
            </a:r>
            <a:endParaRPr lang="en-US" sz="1720" dirty="0"/>
          </a:p>
          <a:p>
            <a:pPr indent="0" marL="0">
              <a:buNone/>
            </a:pPr>
            <a:r>
              <a:rPr lang="en-US" sz="1720" dirty="0">
                <a:solidFill>
                  <a:srgbClr val="CBD5E1"/>
                </a:solidFill>
              </a:rPr>
              <a:t>• Carga da lista de tweets nun ListBox</a:t>
            </a:r>
            <a:endParaRPr lang="en-US" sz="1720" dirty="0"/>
          </a:p>
          <a:p>
            <a:pPr indent="0" marL="0">
              <a:buNone/>
            </a:pPr>
            <a:r>
              <a:rPr lang="en-US" sz="1720" dirty="0">
                <a:solidFill>
                  <a:srgbClr val="CBD5E1"/>
                </a:solidFill>
              </a:rPr>
              <a:t>• Publicación de novos tweets</a:t>
            </a:r>
            <a:endParaRPr lang="en-US" sz="1720" dirty="0"/>
          </a:p>
          <a:p>
            <a:pPr indent="0" marL="0">
              <a:buNone/>
            </a:pPr>
            <a:r>
              <a:rPr lang="en-US" sz="1720" dirty="0">
                <a:solidFill>
                  <a:srgbClr val="CBD5E1"/>
                </a:solidFill>
              </a:rPr>
              <a:t>• Borrado só dos tweets do usuario actual</a:t>
            </a:r>
            <a:endParaRPr lang="en-US" sz="1720" dirty="0"/>
          </a:p>
          <a:p>
            <a:pPr indent="0" marL="0">
              <a:buNone/>
            </a:pPr>
            <a:r>
              <a:rPr lang="en-US" sz="1720" dirty="0">
                <a:solidFill>
                  <a:srgbClr val="CBD5E1"/>
                </a:solidFill>
              </a:rPr>
              <a:t>• Borrado de conta con confirmación</a:t>
            </a:r>
            <a:endParaRPr lang="en-US" sz="1720" dirty="0"/>
          </a:p>
          <a:p>
            <a:pPr indent="0" marL="0">
              <a:buNone/>
            </a:pPr>
            <a:r>
              <a:rPr lang="en-US" sz="1720" dirty="0">
                <a:solidFill>
                  <a:srgbClr val="CBD5E1"/>
                </a:solidFill>
              </a:rPr>
              <a:t>• Peche de sesión e volta ao login</a:t>
            </a:r>
            <a:endParaRPr lang="en-US" sz="1720" dirty="0"/>
          </a:p>
        </p:txBody>
      </p:sp>
      <p:sp>
        <p:nvSpPr>
          <p:cNvPr id="19" name="Shape 17"/>
          <p:cNvSpPr/>
          <p:nvPr/>
        </p:nvSpPr>
        <p:spPr>
          <a:xfrm>
            <a:off x="6400800" y="4434840"/>
            <a:ext cx="4434840" cy="1600200"/>
          </a:xfrm>
          <a:prstGeom prst="roundRect">
            <a:avLst>
              <a:gd name="adj" fmla="val 2857"/>
            </a:avLst>
          </a:prstGeom>
          <a:solidFill>
            <a:srgbClr val="02061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4572000"/>
            <a:ext cx="41056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ApiService centraliza: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LoginAsync()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RegisterAsync()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GetTweetsAsync()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CreateTweetAsync()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DeleteTweetAsync()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2E8F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DeleteUserAsync()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0835640" y="646480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XClone API · 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Ecosistema completo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3840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Un backend, varios clientes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49808" y="1024128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</a:rPr>
              <a:t>O punto forte do proxecto é que non é unha soa pantalla illada: hai unha mesma API reutilizada desde diferentes clientes.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2788920" y="2240280"/>
            <a:ext cx="1920240" cy="704088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88920" y="3703320"/>
            <a:ext cx="1920240" cy="-484632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88920" y="5166360"/>
            <a:ext cx="1920240" cy="-1673352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812280" y="3127248"/>
            <a:ext cx="19202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68680" y="1810512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0F172A"/>
          </a:solidFill>
          <a:ln w="1651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1938528"/>
            <a:ext cx="1700784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Android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Java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8680" y="3273552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0F172A"/>
          </a:solidFill>
          <a:ln w="1651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401568"/>
            <a:ext cx="1700784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Web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PHP MVC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68680" y="4736592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0F172A"/>
          </a:solidFill>
          <a:ln w="1651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4864608"/>
            <a:ext cx="1700784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Escritorio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C# WinForms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09160" y="2423160"/>
            <a:ext cx="2103120" cy="1554480"/>
          </a:xfrm>
          <a:prstGeom prst="roundRect">
            <a:avLst>
              <a:gd name="adj" fmla="val 4706"/>
            </a:avLst>
          </a:prstGeom>
          <a:solidFill>
            <a:srgbClr val="0F172A"/>
          </a:solidFill>
          <a:ln w="1651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8888" y="2551176"/>
            <a:ext cx="1883664" cy="1298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API REST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Java · Jakarta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JSON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732520" y="265176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0F172A"/>
          </a:solidFill>
          <a:ln w="1651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42248" y="2779776"/>
            <a:ext cx="1792224" cy="886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MariaDB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</a:rPr>
              <a:t>users · tweets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572000" y="45262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8BDF8"/>
                </a:solidFill>
              </a:rPr>
              <a:t>Que se demostra na presentación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4617720" y="493776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• Separación entre interface, lóxica HTTP e datos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• Reutilización real dos endpoints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• Consumo de JSON en Java, PHP e C#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• Proxecto modular e defendible tecnicamente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835640" y="646480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XClone API · 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 Peche: puntos fortes e melloras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50392"/>
            <a:ext cx="111556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21040" y="3840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Conclusión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</a:rPr>
              <a:t>Puntos fortes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41605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</a:rPr>
              <a:t>• API separada da interface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</a:rPr>
              <a:t>• Uso de PreparedStatement contra inxección SQL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</a:rPr>
              <a:t>• Respostas JSON claras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</a:rPr>
              <a:t>• Endpoints sinxelos de probar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</a:rPr>
              <a:t>• Erros HTTP comprensibles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0" y="1234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Melloras futuras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46520" y="1783080"/>
            <a:ext cx="43434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</a:rPr>
              <a:t>• Hash real de contrasinais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</a:rPr>
              <a:t>• Tokens de sesión / JWT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</a:rPr>
              <a:t>• Non ter credenciais no código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</a:rPr>
              <a:t>• Validar lonxitudes e emails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</a:rPr>
              <a:t>• Relación real User → Tweet por id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833872" y="1143000"/>
            <a:ext cx="0" cy="320040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892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Conclusión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5321808"/>
            <a:ext cx="9784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XClone xa ten unha base funcional: clientes, API REST e base de datos conectadas. O seguinte salto sería endurecer seguridade e modelar mellor as relacións.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835640" y="646480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XClone API · 13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OndaVital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XClone — App + API REST</dc:title>
  <dc:subject>Presentación da app XClone e a súa API REST</dc:subject>
  <dc:creator>OpenAI</dc:creator>
  <cp:lastModifiedBy>OpenAI</cp:lastModifiedBy>
  <cp:revision>1</cp:revision>
  <dcterms:created xsi:type="dcterms:W3CDTF">2026-05-28T22:02:13Z</dcterms:created>
  <dcterms:modified xsi:type="dcterms:W3CDTF">2026-05-28T22:02:13Z</dcterms:modified>
</cp:coreProperties>
</file>